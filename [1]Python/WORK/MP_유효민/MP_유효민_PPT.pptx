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12192000"/>
  <p:notesSz cx="6858000" cy="9144000"/>
  <p:embeddedFontLst>
    <p:embeddedFont>
      <p:font typeface="Lato"/>
      <p:regular r:id="rId11"/>
      <p:bold r:id="rId12"/>
      <p:italic r:id="rId13"/>
      <p:boldItalic r:id="rId14"/>
    </p:embeddedFont>
    <p:embeddedFont>
      <p:font typeface="Poppins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Lato-regular.fntdata"/><Relationship Id="rId10" Type="http://schemas.openxmlformats.org/officeDocument/2006/relationships/slide" Target="slides/slide5.xml"/><Relationship Id="rId13" Type="http://schemas.openxmlformats.org/officeDocument/2006/relationships/font" Target="fonts/Lato-italic.fntdata"/><Relationship Id="rId12" Type="http://schemas.openxmlformats.org/officeDocument/2006/relationships/font" Target="fonts/La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oppins-regular.fntdata"/><Relationship Id="rId14" Type="http://schemas.openxmlformats.org/officeDocument/2006/relationships/font" Target="fonts/Lato-boldItalic.fntdata"/><Relationship Id="rId17" Type="http://schemas.openxmlformats.org/officeDocument/2006/relationships/font" Target="fonts/Poppins-italic.fntdata"/><Relationship Id="rId16" Type="http://schemas.openxmlformats.org/officeDocument/2006/relationships/font" Target="fonts/Poppi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Poppi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e634f8b0b0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e634f8b0b0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9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3.png"/><Relationship Id="rId7" Type="http://schemas.openxmlformats.org/officeDocument/2006/relationships/image" Target="../media/image11.png"/><Relationship Id="rId8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9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3.png"/><Relationship Id="rId7" Type="http://schemas.openxmlformats.org/officeDocument/2006/relationships/image" Target="../media/image11.png"/><Relationship Id="rId8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524050" y="3622705"/>
            <a:ext cx="7143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Python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643200" y="4450151"/>
            <a:ext cx="4905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Presenter:</a:t>
            </a:r>
            <a:r>
              <a:rPr b="0" i="0" lang="en-US" sz="19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95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유효민</a:t>
            </a:r>
            <a:endParaRPr sz="1950">
              <a:solidFill>
                <a:srgbClr val="64748B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i="0" lang="en-US" sz="1950" u="none" cap="none" strike="noStrike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Date:</a:t>
            </a:r>
            <a:r>
              <a:rPr b="0" i="0" lang="en-US" sz="19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202</a:t>
            </a:r>
            <a:r>
              <a:rPr lang="en-US" sz="195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6</a:t>
            </a:r>
            <a:r>
              <a:rPr b="0" i="0" lang="en-US" sz="19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.0</a:t>
            </a:r>
            <a:r>
              <a:rPr lang="en-US" sz="195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4</a:t>
            </a:r>
            <a:r>
              <a:rPr b="0" i="0" lang="en-US" sz="19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.2</a:t>
            </a:r>
            <a:r>
              <a:rPr lang="en-US" sz="195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7</a:t>
            </a:r>
            <a:endParaRPr sz="2000"/>
          </a:p>
        </p:txBody>
      </p:sp>
      <p:sp>
        <p:nvSpPr>
          <p:cNvPr id="87" name="Google Shape;87;p13"/>
          <p:cNvSpPr txBox="1"/>
          <p:nvPr/>
        </p:nvSpPr>
        <p:spPr>
          <a:xfrm>
            <a:off x="3090599" y="2503680"/>
            <a:ext cx="6010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MINI PROJECT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0585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869188" y="4477174"/>
            <a:ext cx="49053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프로그램 안정성 확보</a:t>
            </a:r>
            <a:r>
              <a:rPr b="1" i="0" lang="en-US" sz="1650" u="none" cap="none" strike="noStrike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lang="en-US" sz="1650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try-except와 is_vaild_num()</a:t>
            </a:r>
            <a:r>
              <a:rPr lang="en-US" sz="165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함수를 통해 사용자의 오입력에도 멈추지 않는 코드 설계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904863" y="3659566"/>
            <a:ext cx="49053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데이터 구조의 활용: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2</a:t>
            </a:r>
            <a:r>
              <a:rPr lang="en-US" sz="165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차원 </a:t>
            </a: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좌표(</a:t>
            </a:r>
            <a:r>
              <a:rPr lang="en-US" sz="165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튜플</a:t>
            </a: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)와 로봇 </a:t>
            </a:r>
            <a:r>
              <a:rPr lang="en-US" sz="165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및 장소 딕셔너리를</a:t>
            </a: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활용한 </a:t>
            </a:r>
            <a:r>
              <a:rPr lang="en-US" sz="165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데이터</a:t>
            </a: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관리 학습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2860774"/>
            <a:ext cx="2095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3673971"/>
            <a:ext cx="2095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4477149"/>
            <a:ext cx="1275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762000" y="571500"/>
            <a:ext cx="11401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OVERVIEW &amp; </a:t>
            </a:r>
            <a:r>
              <a:rPr b="1" lang="en-US" sz="3300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TECHNICAL LOGIC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300">
              <a:solidFill>
                <a:srgbClr val="3B82F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571500" y="2213074"/>
            <a:ext cx="55006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주제 선정 배경 및 목적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7058063" y="2860780"/>
            <a:ext cx="4219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math 모듈: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sqrt()를 활용한 거리 </a:t>
            </a:r>
            <a:r>
              <a:rPr lang="en-US" sz="165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계산</a:t>
            </a:r>
            <a:endParaRPr sz="1650">
              <a:solidFill>
                <a:srgbClr val="CBD5E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7058025" y="3269902"/>
            <a:ext cx="42195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Dictionary: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로봇(이름:배터리) 및 장소(이름:</a:t>
            </a:r>
            <a:r>
              <a:rPr lang="en-US" sz="165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(x, y</a:t>
            </a: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) 정보 관리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7058075" y="4085223"/>
            <a:ext cx="42195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Exception: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데이터 무결성을 위한 </a:t>
            </a:r>
            <a:r>
              <a:rPr lang="en-US" sz="165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수치</a:t>
            </a: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검사 함수(is_valid_num)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724650" y="2860771"/>
            <a:ext cx="687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724650" y="3269908"/>
            <a:ext cx="1036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724650" y="4085232"/>
            <a:ext cx="1124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417425" y="2257024"/>
            <a:ext cx="550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구현 패키지 및 로직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904875" y="2841974"/>
            <a:ext cx="49053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제한적 자원 시뮬레이션: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거리당 </a:t>
            </a:r>
            <a:r>
              <a:rPr b="1" i="0" lang="en-US" sz="1650" u="none" cap="none" strike="noStrike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배터리 </a:t>
            </a:r>
            <a:r>
              <a:rPr b="1" lang="en-US" sz="1650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소모 </a:t>
            </a:r>
            <a:r>
              <a:rPr lang="en-US" sz="165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로직을 통해 목적지 도달가능 여부 알고리즘 구현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44353"/>
            <a:ext cx="3492400" cy="29694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444353"/>
            <a:ext cx="3492549" cy="29694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7950" y="2444353"/>
            <a:ext cx="3492400" cy="2969418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914400" y="4316078"/>
            <a:ext cx="2806500" cy="7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로봇의 고유 명칭과 초기 배터리 용량을 입력받아 </a:t>
            </a:r>
            <a:r>
              <a:rPr b="1" i="0" lang="en-US" sz="1350" u="none" cap="none" strike="noStrike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robot_info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딕셔너리에 </a:t>
            </a:r>
            <a:r>
              <a:rPr lang="en-US" sz="135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저장합니다. 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4692525" y="4316066"/>
            <a:ext cx="2806800" cy="7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장소명과 (X, Y) 좌표</a:t>
            </a:r>
            <a:r>
              <a:rPr lang="en-US" sz="135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튜플</a:t>
            </a:r>
            <a:r>
              <a:rPr lang="en-US" sz="135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값을 </a:t>
            </a:r>
            <a:r>
              <a:rPr b="1" lang="en-US" sz="1350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locations</a:t>
            </a:r>
            <a:r>
              <a:rPr lang="en-US" sz="135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딕셔너리에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저장하여 거리 계산을 위한 노드를 설정합니다.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8470950" y="4257278"/>
            <a:ext cx="2806500" cy="7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35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사용자로부터 입력받는 값이 숫자가 맞는지 확인하고, 아닐 경우 예외처리하여 사용자에게 알립니다.</a:t>
            </a:r>
            <a:endParaRPr/>
          </a:p>
        </p:txBody>
      </p:sp>
      <p:pic>
        <p:nvPicPr>
          <p:cNvPr descr="image.png" id="120" name="Google Shape;12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4400" y="2825353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92550" y="2825353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70850" y="2825353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KEY FUNCTIONALITY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914400" y="3484166"/>
            <a:ext cx="2946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register_robot()</a:t>
            </a:r>
            <a:endParaRPr b="1" i="0" sz="1800" u="none" cap="none" strike="noStrike">
              <a:solidFill>
                <a:srgbClr val="3B82F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로봇 등록 함수</a:t>
            </a:r>
            <a:endParaRPr b="1" sz="1800">
              <a:solidFill>
                <a:srgbClr val="3B82F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6" name="Google Shape;126;p15"/>
          <p:cNvSpPr txBox="1"/>
          <p:nvPr/>
        </p:nvSpPr>
        <p:spPr>
          <a:xfrm>
            <a:off x="4622325" y="3484166"/>
            <a:ext cx="2947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register_location()</a:t>
            </a:r>
            <a:endParaRPr b="1" i="0" sz="1800" u="none" cap="none" strike="noStrike">
              <a:solidFill>
                <a:srgbClr val="3B82F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장소 등록 함수</a:t>
            </a:r>
            <a:endParaRPr b="1" sz="1800">
              <a:solidFill>
                <a:srgbClr val="3B82F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8470950" y="3484166"/>
            <a:ext cx="2946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is_vaild_num()</a:t>
            </a:r>
            <a:endParaRPr b="1" i="0" sz="1800" u="none" cap="none" strike="noStrike">
              <a:solidFill>
                <a:srgbClr val="3B82F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예외 처리 함수</a:t>
            </a:r>
            <a:endParaRPr b="1" sz="1800">
              <a:solidFill>
                <a:srgbClr val="3B82F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2" name="Google Shape;13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3230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44353"/>
            <a:ext cx="3492400" cy="29694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444353"/>
            <a:ext cx="3492549" cy="29694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7950" y="2444353"/>
            <a:ext cx="3492400" cy="2969418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914400" y="4316078"/>
            <a:ext cx="2806500" cy="10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350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가변 매개변수(*waypoints)</a:t>
            </a:r>
            <a:r>
              <a:rPr lang="en-US" sz="135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를 활용해 경유지를 설정하고, 배터리 잔량을 계산하여 주행을 제어합니다.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4692525" y="4316066"/>
            <a:ext cx="2806800" cy="7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사용자가 선택하는  정보를  </a:t>
            </a:r>
            <a:r>
              <a:rPr b="1" lang="en-US" sz="1350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robot_info와 locations 딕셔너리</a:t>
            </a:r>
            <a:r>
              <a:rPr lang="en-US" sz="135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에서 </a:t>
            </a:r>
            <a:r>
              <a:rPr b="1" lang="en-US" sz="1350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pop()</a:t>
            </a:r>
            <a:r>
              <a:rPr lang="en-US" sz="135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을 통해  삭제합니다.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8470950" y="4257278"/>
            <a:ext cx="2806500" cy="7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match-case문</a:t>
            </a:r>
            <a:r>
              <a:rPr lang="en-US" sz="135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을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통해 사용자가 원하는 기능을 수행합니다. 잘못된 입력이 있을시 예외 처리하여 안내해줍니다.</a:t>
            </a:r>
            <a:endParaRPr/>
          </a:p>
        </p:txBody>
      </p:sp>
      <p:pic>
        <p:nvPicPr>
          <p:cNvPr descr="image.png" id="139" name="Google Shape;13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4400" y="2825353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92550" y="2825353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70850" y="2825353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6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KEY FUNCTIONALITY</a:t>
            </a:r>
            <a:endParaRPr/>
          </a:p>
        </p:txBody>
      </p:sp>
      <p:sp>
        <p:nvSpPr>
          <p:cNvPr id="143" name="Google Shape;143;p16"/>
          <p:cNvSpPr/>
          <p:nvPr/>
        </p:nvSpPr>
        <p:spPr>
          <a:xfrm>
            <a:off x="571500" y="571500"/>
            <a:ext cx="76200" cy="619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 txBox="1"/>
          <p:nvPr/>
        </p:nvSpPr>
        <p:spPr>
          <a:xfrm>
            <a:off x="914400" y="3484166"/>
            <a:ext cx="2946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800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start_driving()</a:t>
            </a:r>
            <a:endParaRPr b="1" sz="1800">
              <a:solidFill>
                <a:srgbClr val="3B82F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800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주행 시연 함수</a:t>
            </a:r>
            <a:endParaRPr b="1" sz="1800">
              <a:solidFill>
                <a:srgbClr val="3B82F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B82F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5" name="Google Shape;145;p16"/>
          <p:cNvSpPr txBox="1"/>
          <p:nvPr/>
        </p:nvSpPr>
        <p:spPr>
          <a:xfrm>
            <a:off x="4622325" y="3484166"/>
            <a:ext cx="2947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del_info()</a:t>
            </a:r>
            <a:endParaRPr b="1" sz="1800">
              <a:solidFill>
                <a:srgbClr val="3B82F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정보</a:t>
            </a:r>
            <a:r>
              <a:rPr b="1" lang="en-US" sz="1800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 등록 </a:t>
            </a:r>
            <a:r>
              <a:rPr b="1" lang="en-US" sz="1800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해제 </a:t>
            </a:r>
            <a:r>
              <a:rPr b="1" lang="en-US" sz="1800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 함수</a:t>
            </a:r>
            <a:endParaRPr b="1" sz="1800">
              <a:solidFill>
                <a:srgbClr val="3B82F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6" name="Google Shape;146;p16"/>
          <p:cNvSpPr txBox="1"/>
          <p:nvPr/>
        </p:nvSpPr>
        <p:spPr>
          <a:xfrm>
            <a:off x="8470950" y="3484166"/>
            <a:ext cx="2946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main</a:t>
            </a:r>
            <a:r>
              <a:rPr b="1" i="0" lang="en-US" sz="1800" u="none" cap="none" strike="noStrik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()</a:t>
            </a:r>
            <a:endParaRPr b="1" i="0" sz="1800" u="none" cap="none" strike="noStrike">
              <a:solidFill>
                <a:srgbClr val="3B82F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프로그램 실행 함수</a:t>
            </a:r>
            <a:endParaRPr b="1" sz="1800">
              <a:solidFill>
                <a:srgbClr val="3B82F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1" name="Google Shape;15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66875"/>
            <a:ext cx="4953000" cy="4114204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/>
        </p:nvSpPr>
        <p:spPr>
          <a:xfrm>
            <a:off x="881088" y="2725075"/>
            <a:ext cx="4333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노트북을 통한 실제 코드 실행 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1619250" y="3219450"/>
            <a:ext cx="3619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로봇 등록 및 배터리 용량 설정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1619250" y="3697485"/>
            <a:ext cx="3619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장소별 좌표 등록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1619250" y="4175521"/>
            <a:ext cx="3619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경로 생성 및 </a:t>
            </a:r>
            <a:r>
              <a:rPr lang="en-US" sz="165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주행 시 </a:t>
            </a: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배터리 차감 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1619250" y="4988718"/>
            <a:ext cx="3619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주행 및 </a:t>
            </a: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방전 시나리오</a:t>
            </a:r>
            <a:r>
              <a:rPr lang="en-US" sz="165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성공 결과 확인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1285875" y="3219450"/>
            <a:ext cx="2095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1285875" y="3697485"/>
            <a:ext cx="2095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1285875" y="4175521"/>
            <a:ext cx="2095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1285875" y="4988718"/>
            <a:ext cx="2095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762000" y="762000"/>
            <a:ext cx="50006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SYSTEM DEMO</a:t>
            </a:r>
            <a:endParaRPr/>
          </a:p>
        </p:txBody>
      </p:sp>
      <p:sp>
        <p:nvSpPr>
          <p:cNvPr id="163" name="Google Shape;163;p17"/>
          <p:cNvSpPr/>
          <p:nvPr/>
        </p:nvSpPr>
        <p:spPr>
          <a:xfrm>
            <a:off x="571500" y="762000"/>
            <a:ext cx="76200" cy="619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 txBox="1"/>
          <p:nvPr/>
        </p:nvSpPr>
        <p:spPr>
          <a:xfrm>
            <a:off x="904875" y="1952625"/>
            <a:ext cx="455056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시연 시나리오</a:t>
            </a:r>
            <a:endParaRPr/>
          </a:p>
        </p:txBody>
      </p:sp>
      <p:pic>
        <p:nvPicPr>
          <p:cNvPr id="165" name="Google Shape;165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15400" y="1666863"/>
            <a:ext cx="5553562" cy="319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15400" y="5075773"/>
            <a:ext cx="5553550" cy="648423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7"/>
          <p:cNvSpPr txBox="1"/>
          <p:nvPr/>
        </p:nvSpPr>
        <p:spPr>
          <a:xfrm>
            <a:off x="1619250" y="4582118"/>
            <a:ext cx="3619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입력 값 예외처리 확인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1285875" y="4582121"/>
            <a:ext cx="2972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